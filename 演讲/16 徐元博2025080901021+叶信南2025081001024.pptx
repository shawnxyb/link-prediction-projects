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4" r:id="rId5"/>
    <p:sldId id="290" r:id="rId6"/>
    <p:sldId id="291" r:id="rId7"/>
    <p:sldId id="292" r:id="rId8"/>
    <p:sldId id="293" r:id="rId9"/>
    <p:sldId id="294" r:id="rId10"/>
    <p:sldId id="295" r:id="rId11"/>
    <p:sldId id="298" r:id="rId12"/>
    <p:sldId id="310" r:id="rId13"/>
    <p:sldId id="299" r:id="rId14"/>
    <p:sldId id="301" r:id="rId15"/>
    <p:sldId id="302" r:id="rId16"/>
    <p:sldId id="309" r:id="rId17"/>
    <p:sldId id="303" r:id="rId18"/>
    <p:sldId id="305" r:id="rId19"/>
    <p:sldId id="306" r:id="rId20"/>
    <p:sldId id="307" r:id="rId21"/>
    <p:sldId id="308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7" autoAdjust="0"/>
    <p:restoredTop sz="94660"/>
  </p:normalViewPr>
  <p:slideViewPr>
    <p:cSldViewPr snapToGrid="0">
      <p:cViewPr varScale="1">
        <p:scale>
          <a:sx n="74" d="100"/>
          <a:sy n="74" d="100"/>
        </p:scale>
        <p:origin x="29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EEDDD-2F66-4DB6-9D98-5AE1A2A5120F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793F8-885B-454C-A636-0A4DD6C46DD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我负责的是传统链路预测 </a:t>
            </a:r>
            <a:r>
              <a:rPr lang="en-US" altLang="zh-CN"/>
              <a:t>baseline </a:t>
            </a:r>
            <a:r>
              <a:rPr lang="zh-CN" altLang="en-US"/>
              <a:t>和基于图结构特征的 </a:t>
            </a:r>
            <a:r>
              <a:rPr lang="en-US" altLang="zh-CN"/>
              <a:t>MLP </a:t>
            </a:r>
            <a:r>
              <a:rPr lang="zh-CN" altLang="en-US"/>
              <a:t>方法。第二部分会介绍 </a:t>
            </a:r>
            <a:r>
              <a:rPr lang="en-US" altLang="zh-CN"/>
              <a:t>LightGCN。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&gt; 这个数据集的关键不是规模特别大，而是社交网络结构非常典型。一个用户的朋友之间也更可能互相认识，这就是三角闭包。因此，共同邻居类指标天然适合这个任务。</a:t>
            </a:r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&gt; 这些 </a:t>
            </a:r>
            <a:r>
              <a:rPr lang="en-US" altLang="zh-CN"/>
              <a:t>baseline </a:t>
            </a:r>
            <a:r>
              <a:rPr lang="zh-CN" altLang="en-US"/>
              <a:t>都是人工设计的结构相似性指标。它们不学习参数，但能直接捕</a:t>
            </a:r>
            <a:r>
              <a:rPr lang="en-US" altLang="zh-CN"/>
              <a:t>w</a:t>
            </a:r>
            <a:r>
              <a:rPr lang="zh-CN" altLang="en-US"/>
              <a:t>捉好友推荐中最核心的信号：两个用户是否有共同社交圈。</a:t>
            </a:r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+mn-ea"/>
              </a:rPr>
              <a:t>这一页讲 MLP 结构。输入维度是 7，两个隐藏层分别是 64 和 32，最后输出一个 logit。这个 logit 可以经过 sigmoid 得到概率，也可以直接用于排序。重点强调：MLP 学的是多个结构指标之间的非线性组合。</a:t>
            </a:r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+mn-ea"/>
              </a:rPr>
              <a:t>这一页讲 MLP 结构。输入维度是 7，两个隐藏层分别是 64 和 32，最后输出一个 logit。这个 logit 可以经过 sigmoid 得到概率，也可以直接用于排序。重点强调：MLP 学的是多个结构指标之间的非线性组合。</a:t>
            </a:r>
          </a:p>
          <a:p>
            <a:pPr eaLnBrk="1" hangingPunct="1"/>
            <a:r>
              <a:rPr lang="zh-CN" altLang="en-US"/>
              <a:t>&gt; 我们的 </a:t>
            </a:r>
            <a:r>
              <a:rPr lang="en-US" altLang="zh-CN"/>
              <a:t>MLP </a:t>
            </a:r>
            <a:r>
              <a:rPr lang="zh-CN" altLang="en-US"/>
              <a:t>输入维度是 7，对应 7 个结构特征。</a:t>
            </a:r>
          </a:p>
          <a:p>
            <a:pPr eaLnBrk="1" hangingPunct="1"/>
            <a:r>
              <a:rPr lang="zh-CN" altLang="en-US"/>
              <a:t>&gt; 中间有两个隐藏层，维度分别是 64 和 32，使用 </a:t>
            </a:r>
            <a:r>
              <a:rPr lang="en-US" altLang="zh-CN"/>
              <a:t>ReLU </a:t>
            </a:r>
            <a:r>
              <a:rPr lang="zh-CN" altLang="en-US"/>
              <a:t>激活和 </a:t>
            </a:r>
            <a:r>
              <a:rPr lang="en-US" altLang="zh-CN"/>
              <a:t>Dropout。&gt; ReLU </a:t>
            </a:r>
            <a:r>
              <a:rPr lang="zh-CN" altLang="en-US"/>
              <a:t>的作用是给模型加入非线性能力，使得 </a:t>
            </a:r>
            <a:r>
              <a:rPr lang="en-US" altLang="zh-CN"/>
              <a:t>MLP </a:t>
            </a:r>
            <a:r>
              <a:rPr lang="zh-CN" altLang="en-US"/>
              <a:t>不只是简单地给 7 个指标加权求和，而是可以学习更复杂的组合模式。</a:t>
            </a:r>
          </a:p>
          <a:p>
            <a:pPr eaLnBrk="1" hangingPunct="1"/>
            <a:r>
              <a:rPr lang="zh-CN" altLang="en-US"/>
              <a:t>&gt; 最后一层输出 1 个 </a:t>
            </a:r>
            <a:r>
              <a:rPr lang="en-US" altLang="zh-CN"/>
              <a:t>logit。</a:t>
            </a:r>
            <a:r>
              <a:rPr lang="zh-CN" altLang="en-US"/>
              <a:t>这个</a:t>
            </a:r>
            <a:r>
              <a:rPr lang="en-US" altLang="zh-CN"/>
              <a:t>ligit</a:t>
            </a:r>
            <a:r>
              <a:rPr lang="zh-CN" altLang="en-US"/>
              <a:t>就是我们的</a:t>
            </a:r>
            <a:r>
              <a:rPr lang="en-US" altLang="zh-CN"/>
              <a:t>score</a:t>
            </a:r>
          </a:p>
          <a:p>
            <a:pPr eaLnBrk="1" hangingPunct="1"/>
            <a:r>
              <a:rPr lang="zh-CN" altLang="en-US"/>
              <a:t>&gt; 这个 </a:t>
            </a:r>
            <a:r>
              <a:rPr lang="en-US" altLang="zh-CN"/>
              <a:t>logit </a:t>
            </a:r>
            <a:r>
              <a:rPr lang="zh-CN" altLang="en-US"/>
              <a:t>可以经过 </a:t>
            </a:r>
            <a:r>
              <a:rPr lang="en-US" altLang="zh-CN"/>
              <a:t>sigmoid </a:t>
            </a:r>
            <a:r>
              <a:rPr lang="zh-CN" altLang="en-US"/>
              <a:t>变成连接概率，也可以直接作为排序分数。</a:t>
            </a:r>
          </a:p>
          <a:p>
            <a:pPr eaLnBrk="1" hangingPunct="1"/>
            <a:r>
              <a:rPr lang="zh-CN" altLang="en-US"/>
              <a:t>&gt; 如果把任务看成二分类，就是判断一条候选边是真实边还是负采样边。</a:t>
            </a:r>
          </a:p>
          <a:p>
            <a:pPr eaLnBrk="1" hangingPunct="1"/>
            <a:r>
              <a:rPr lang="zh-CN" altLang="en-US"/>
              <a:t>&gt; 所以可以用 </a:t>
            </a:r>
            <a:r>
              <a:rPr lang="en-US" altLang="zh-CN"/>
              <a:t>BCE Loss </a:t>
            </a:r>
            <a:r>
              <a:rPr lang="zh-CN" altLang="en-US"/>
              <a:t>训练。训练过程就是不断调整 </a:t>
            </a:r>
            <a:r>
              <a:rPr lang="en-US" altLang="zh-CN"/>
              <a:t>MLP </a:t>
            </a:r>
            <a:r>
              <a:rPr lang="zh-CN" altLang="en-US"/>
              <a:t>的参数，让正边得分更高，负边得分更低。</a:t>
            </a:r>
          </a:p>
          <a:p>
            <a:pPr eaLnBrk="1" hangingPunct="1"/>
            <a:r>
              <a:rPr lang="zh-CN" altLang="en-US"/>
              <a:t>&gt; 训练完成后，对候选边打分，再按照分数从高到低做好友推荐。</a:t>
            </a:r>
          </a:p>
          <a:p>
            <a:pPr eaLnBrk="1" hangingPunct="1"/>
            <a:r>
              <a:rPr lang="en-US" altLang="zh-CN"/>
              <a:t>&gt; MLP </a:t>
            </a:r>
            <a:r>
              <a:rPr lang="zh-CN" altLang="en-US"/>
              <a:t>的可解释性比直接 </a:t>
            </a:r>
            <a:r>
              <a:rPr lang="en-US" altLang="zh-CN"/>
              <a:t>embedding </a:t>
            </a:r>
            <a:r>
              <a:rPr lang="zh-CN" altLang="en-US"/>
              <a:t>方法更强，因为输入的每一维都是明确的图结构指标。</a:t>
            </a:r>
          </a:p>
          <a:p>
            <a:pPr eaLnBrk="1" hangingPunct="1"/>
            <a:r>
              <a:rPr lang="en-US" altLang="zh-CN"/>
              <a:t>                                         </a:t>
            </a:r>
            <a:r>
              <a:rPr lang="zh-CN" altLang="en-US"/>
              <a:t>如果没有 </a:t>
            </a:r>
            <a:r>
              <a:rPr lang="en-US" altLang="zh-CN"/>
              <a:t>dropout，MLP </a:t>
            </a:r>
            <a:r>
              <a:rPr lang="zh-CN" altLang="en-US"/>
              <a:t>可能过度依赖某些特征，通过</a:t>
            </a:r>
            <a:r>
              <a:rPr lang="en-US" altLang="zh-CN"/>
              <a:t>dropout</a:t>
            </a:r>
            <a:r>
              <a:rPr lang="zh-CN" altLang="en-US"/>
              <a:t>让模型更综合的去考虑每一个特征之间的组合关系。</a:t>
            </a:r>
          </a:p>
          <a:p>
            <a:pPr eaLnBrk="1" hangingPunct="1"/>
            <a:r>
              <a:rPr lang="zh-CN" altLang="en-US"/>
              <a:t>&gt; 这些方法在 </a:t>
            </a:r>
            <a:r>
              <a:rPr lang="en-US" altLang="zh-CN"/>
              <a:t>Facebook </a:t>
            </a:r>
            <a:r>
              <a:rPr lang="zh-CN" altLang="en-US"/>
              <a:t>这种强三角闭包网络上非常有效，但它们也有一个限制：</a:t>
            </a:r>
          </a:p>
          <a:p>
            <a:pPr eaLnBrk="1" hangingPunct="1"/>
            <a:r>
              <a:rPr lang="zh-CN" altLang="en-US"/>
              <a:t>&gt; 模型只能使用我们手动定义好的指标。</a:t>
            </a:r>
          </a:p>
          <a:p>
            <a:pPr eaLnBrk="1" hangingPunct="1"/>
            <a:r>
              <a:rPr lang="zh-CN" altLang="en-US"/>
              <a:t>&gt; 那么自然会有一个问题：能不能不手工设计 </a:t>
            </a:r>
            <a:r>
              <a:rPr lang="en-US" altLang="zh-CN"/>
              <a:t>CN、AA、RA </a:t>
            </a:r>
            <a:r>
              <a:rPr lang="zh-CN" altLang="en-US"/>
              <a:t>这些特征，而是让模型自己从图结构中学习节点表示？</a:t>
            </a:r>
          </a:p>
          <a:p>
            <a:pPr eaLnBrk="1" hangingPunct="1"/>
            <a:r>
              <a:rPr lang="zh-CN" altLang="en-US"/>
              <a:t>&gt; 这就引出了后面的图神经网络方法，特别是 </a:t>
            </a:r>
            <a:r>
              <a:rPr lang="en-US" altLang="zh-CN"/>
              <a:t>LightGCN。</a:t>
            </a:r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2332-103B-3A41-612E-468DC6EC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A3CEF6D6-8DA2-770B-F414-A15A387D019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04D9FB44-4FAF-3711-8C34-67C45BD8EB5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&gt; 这些 </a:t>
            </a:r>
            <a:r>
              <a:rPr lang="en-US" altLang="zh-CN"/>
              <a:t>baseline </a:t>
            </a:r>
            <a:r>
              <a:rPr lang="zh-CN" altLang="en-US"/>
              <a:t>都是人工设计的结构相似性指标。它们不学习参数，但能直接捕</a:t>
            </a:r>
            <a:r>
              <a:rPr lang="en-US" altLang="zh-CN"/>
              <a:t>w</a:t>
            </a:r>
            <a:r>
              <a:rPr lang="zh-CN" altLang="en-US"/>
              <a:t>捉好友推荐中最核心的信号：两个用户是否有共同社交圈。</a:t>
            </a:r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42401877-268D-0FBE-AE20-CF44DC810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563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710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3B60EAE2-8C88-464E-B7AF-21EFF90D9DA9}" type="slidenum">
              <a:rPr altLang="en-US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505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506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62AC2AE9-751E-4120-B11E-D898CFDE337C}" type="slidenum">
              <a:rPr altLang="en-US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7398100-1777-41F6-96AA-686A28C6503B}" type="slidenum">
              <a:rPr altLang="en-US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6553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6554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49FFA18A-0AA8-4F1F-ABAC-F79C57116994}" type="slidenum">
              <a:rPr altLang="en-US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07398100-1777-41F6-96AA-686A28C6503B}" type="slidenum">
              <a:rPr altLang="en-US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198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198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63294C6E-E21D-4BA3-81A6-94F04B7B38F3}" type="slidenum">
              <a:rPr altLang="en-US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0858-7C70-4AD8-8B8C-56F1273CD8A4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1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notesSlide" Target="../notesSlides/notesSlide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1749846" y="2240893"/>
            <a:ext cx="754596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b="1" dirty="0">
                <a:solidFill>
                  <a:schemeClr val="bg1">
                    <a:lumMod val="95000"/>
                    <a:alpha val="75000"/>
                  </a:schemeClr>
                </a:solidFill>
                <a:latin typeface="+mj-ea"/>
                <a:ea typeface="+mj-ea"/>
              </a:rPr>
              <a:t>BUSSINESS WORK REPORT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>
            <a:fillRect/>
          </a:stretch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731645" y="2562225"/>
            <a:ext cx="59924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 基于 </a:t>
            </a:r>
            <a:r>
              <a:rPr lang="en-US" altLang="zh-CN" sz="4400" b="1" dirty="0"/>
              <a:t>SNAP Facebook </a:t>
            </a:r>
            <a:r>
              <a:rPr lang="zh-CN" altLang="en-US" sz="4400" b="1" dirty="0"/>
              <a:t>社交网络的链路预测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1731382" y="3982065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749846" y="4329913"/>
            <a:ext cx="249771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latin typeface="+mj-ea"/>
                <a:ea typeface="+mj-ea"/>
              </a:rPr>
              <a:t>汇报人：叶信南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徐元博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2671" y="2240893"/>
            <a:ext cx="1623213" cy="1615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9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299"/>
                            </p:stCondLst>
                            <p:childTnLst>
                              <p:par>
                                <p:cTn id="3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2" grpId="0" animBg="1"/>
      <p:bldP spid="16" grpId="0" animBg="1"/>
      <p:bldP spid="19" grpId="0" build="allAtOnce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>
            <a:fillRect/>
          </a:stretch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-5208638" y="-397555"/>
            <a:ext cx="5351762" cy="1905681"/>
            <a:chOff x="781050" y="2021512"/>
            <a:chExt cx="5351762" cy="1905681"/>
          </a:xfr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</p:grpSpPr>
        <p:sp>
          <p:nvSpPr>
            <p:cNvPr id="5" name="矩形: 圆角 4"/>
            <p:cNvSpPr/>
            <p:nvPr/>
          </p:nvSpPr>
          <p:spPr>
            <a:xfrm rot="18900000">
              <a:off x="781050" y="25019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/>
            <p:cNvSpPr/>
            <p:nvPr/>
          </p:nvSpPr>
          <p:spPr>
            <a:xfrm rot="18900000">
              <a:off x="1606550" y="22860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/>
            <p:cNvSpPr/>
            <p:nvPr/>
          </p:nvSpPr>
          <p:spPr>
            <a:xfrm rot="18900000">
              <a:off x="1679089" y="35709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/>
            <p:cNvSpPr/>
            <p:nvPr/>
          </p:nvSpPr>
          <p:spPr>
            <a:xfrm rot="18900000">
              <a:off x="3250446" y="20215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/>
            <p:cNvSpPr/>
            <p:nvPr/>
          </p:nvSpPr>
          <p:spPr>
            <a:xfrm rot="18900000">
              <a:off x="2602168" y="321017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/>
            <p:cNvSpPr/>
            <p:nvPr/>
          </p:nvSpPr>
          <p:spPr>
            <a:xfrm rot="18900000">
              <a:off x="4396870" y="2154008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/>
          </p:nvSpPr>
          <p:spPr>
            <a:xfrm rot="18900000">
              <a:off x="2237477" y="3628743"/>
              <a:ext cx="3254138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/>
          </p:nvSpPr>
          <p:spPr>
            <a:xfrm rot="18900000">
              <a:off x="4051541" y="296766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/>
          </p:nvSpPr>
          <p:spPr>
            <a:xfrm rot="18900000">
              <a:off x="4963894" y="2159909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/>
          </p:nvSpPr>
          <p:spPr>
            <a:xfrm rot="18900000">
              <a:off x="1472222" y="207906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/>
          <p:cNvSpPr/>
          <p:nvPr/>
        </p:nvSpPr>
        <p:spPr>
          <a:xfrm>
            <a:off x="533400" y="2643097"/>
            <a:ext cx="3052301" cy="1032387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116881" y="2743791"/>
            <a:ext cx="2146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目录</a:t>
            </a:r>
          </a:p>
        </p:txBody>
      </p:sp>
      <p:grpSp>
        <p:nvGrpSpPr>
          <p:cNvPr id="70" name="组合 69"/>
          <p:cNvGrpSpPr/>
          <p:nvPr>
            <p:custDataLst>
              <p:tags r:id="rId1"/>
            </p:custDataLst>
          </p:nvPr>
        </p:nvGrpSpPr>
        <p:grpSpPr>
          <a:xfrm>
            <a:off x="5910033" y="2359381"/>
            <a:ext cx="5108759" cy="705467"/>
            <a:chOff x="5910033" y="1400175"/>
            <a:chExt cx="5108759" cy="705467"/>
          </a:xfrm>
        </p:grpSpPr>
        <p:grpSp>
          <p:nvGrpSpPr>
            <p:cNvPr id="71" name="组合 70"/>
            <p:cNvGrpSpPr/>
            <p:nvPr/>
          </p:nvGrpSpPr>
          <p:grpSpPr>
            <a:xfrm>
              <a:off x="6249307" y="1508126"/>
              <a:ext cx="4769485" cy="528321"/>
              <a:chOff x="6249307" y="1508126"/>
              <a:chExt cx="4769485" cy="528321"/>
            </a:xfrm>
          </p:grpSpPr>
          <p:sp>
            <p:nvSpPr>
              <p:cNvPr id="75" name="矩形: 圆角 74"/>
              <p:cNvSpPr/>
              <p:nvPr>
                <p:custDataLst>
                  <p:tags r:id="rId9"/>
                </p:custDataLst>
              </p:nvPr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949712" y="1558926"/>
                <a:ext cx="4069080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3"/>
                    </a:solidFill>
                    <a:sym typeface="+mn-ea"/>
                  </a:rPr>
                  <a:t>Baseline + MLP</a:t>
                </a:r>
                <a:endParaRPr lang="zh-CN" altLang="en-US" sz="2400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73" name="矩形: 圆角 72"/>
              <p:cNvSpPr/>
              <p:nvPr>
                <p:custDataLst>
                  <p:tags r:id="rId7"/>
                </p:custDataLst>
              </p:nvPr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文本框 73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046920" y="1567385"/>
                <a:ext cx="556823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77" name="组合 76"/>
          <p:cNvGrpSpPr/>
          <p:nvPr>
            <p:custDataLst>
              <p:tags r:id="rId2"/>
            </p:custDataLst>
          </p:nvPr>
        </p:nvGrpSpPr>
        <p:grpSpPr>
          <a:xfrm>
            <a:off x="5910033" y="3318587"/>
            <a:ext cx="3756481" cy="705467"/>
            <a:chOff x="5910033" y="1400175"/>
            <a:chExt cx="3756481" cy="705467"/>
          </a:xfrm>
        </p:grpSpPr>
        <p:grpSp>
          <p:nvGrpSpPr>
            <p:cNvPr id="78" name="组合 77"/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82" name="矩形: 圆角 81"/>
              <p:cNvSpPr/>
              <p:nvPr>
                <p:custDataLst>
                  <p:tags r:id="rId5"/>
                </p:custDataLst>
              </p:nvPr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6949620" y="1558854"/>
                <a:ext cx="2328636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 err="1">
                    <a:solidFill>
                      <a:schemeClr val="accent3"/>
                    </a:solidFill>
                    <a:sym typeface="+mn-ea"/>
                  </a:rPr>
                  <a:t>LightGCN</a:t>
                </a:r>
                <a:endParaRPr lang="zh-CN" altLang="en-US" sz="2400" dirty="0">
                  <a:solidFill>
                    <a:schemeClr val="accent3"/>
                  </a:solidFill>
                </a:endParaRPr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80" name="矩形: 圆角 79"/>
              <p:cNvSpPr/>
              <p:nvPr>
                <p:custDataLst>
                  <p:tags r:id="rId3"/>
                </p:custDataLst>
              </p:nvPr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46920" y="1567385"/>
                <a:ext cx="556823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>
            <a:fillRect/>
          </a:stretch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/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01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5362998" y="2554477"/>
            <a:ext cx="411061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accent3"/>
                </a:solidFill>
              </a:rPr>
              <a:t>Baseline + MLP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4145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任务定义：预测潜在好友关系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" y="1649730"/>
            <a:ext cx="4847590" cy="22288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00810" y="4353560"/>
            <a:ext cx="8834120" cy="205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/>
              <a:t>给定一个已经观测到的社交网络图 </a:t>
            </a:r>
            <a:r>
              <a:rPr lang="en-US" altLang="zh-CN" sz="2800"/>
              <a:t>G，</a:t>
            </a:r>
            <a:r>
              <a:rPr lang="zh-CN" altLang="en-US" sz="2800"/>
              <a:t>希望为当前不存在好友关系的用户对 (</a:t>
            </a:r>
            <a:r>
              <a:rPr lang="en-US" altLang="zh-CN" sz="2800"/>
              <a:t>u, v) </a:t>
            </a:r>
            <a:r>
              <a:rPr lang="zh-CN" altLang="en-US" sz="2800"/>
              <a:t>打分。</a:t>
            </a:r>
          </a:p>
          <a:p>
            <a:pPr algn="ctr"/>
            <a:endParaRPr lang="zh-CN" altLang="en-US" sz="2800"/>
          </a:p>
          <a:p>
            <a:pPr algn="ctr"/>
            <a:r>
              <a:rPr lang="zh-CN" altLang="en-US" sz="2800"/>
              <a:t>分数越高，表示两人越可能形成好友关系。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296025" y="1633220"/>
            <a:ext cx="609600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/>
              <a:t>用户 → 节点</a:t>
            </a:r>
          </a:p>
          <a:p>
            <a:endParaRPr lang="zh-CN" altLang="en-US" sz="2800"/>
          </a:p>
          <a:p>
            <a:r>
              <a:rPr lang="zh-CN" altLang="en-US" sz="2800"/>
              <a:t>好友关系 → 边</a:t>
            </a:r>
          </a:p>
          <a:p>
            <a:endParaRPr lang="zh-CN" altLang="en-US" sz="2800"/>
          </a:p>
          <a:p>
            <a:r>
              <a:rPr lang="zh-CN" altLang="en-US" sz="2800"/>
              <a:t>推荐好友 → 预测缺失边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29260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数据集与图结构特点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3400" y="1368425"/>
            <a:ext cx="65519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数据集：</a:t>
            </a:r>
            <a:r>
              <a:rPr lang="en-US" altLang="zh-CN" sz="2400"/>
              <a:t>SNAP Facebook Social Circles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884680"/>
            <a:ext cx="8410575" cy="2628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0" y="5161915"/>
            <a:ext cx="10396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Facebook </a:t>
            </a:r>
            <a:r>
              <a:rPr lang="zh-CN" altLang="en-US" sz="2800"/>
              <a:t>好友网络具有明显的</a:t>
            </a:r>
            <a:r>
              <a:rPr lang="zh-CN" altLang="en-US" sz="2800" b="1"/>
              <a:t>社交圈结构</a:t>
            </a:r>
            <a:r>
              <a:rPr lang="zh-CN" altLang="en-US" sz="2800"/>
              <a:t>和</a:t>
            </a:r>
            <a:r>
              <a:rPr lang="zh-CN" altLang="en-US" sz="2800" b="1"/>
              <a:t>三角闭包现象</a:t>
            </a:r>
            <a:r>
              <a:rPr lang="zh-CN" altLang="en-US" sz="280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5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14020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实验流程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790" y="0"/>
            <a:ext cx="615442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27120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数据划分与负采样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" y="1143635"/>
            <a:ext cx="9845675" cy="2007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" y="3199765"/>
            <a:ext cx="7369810" cy="2533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336931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传统结构指标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35" y="1539875"/>
            <a:ext cx="3267710" cy="368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rcRect l="1094" t="11156" r="-1094" b="-11156"/>
          <a:stretch>
            <a:fillRect/>
          </a:stretch>
        </p:blipFill>
        <p:spPr>
          <a:xfrm>
            <a:off x="2242185" y="2217420"/>
            <a:ext cx="4507230" cy="3454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30" y="928370"/>
            <a:ext cx="904875" cy="5000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505" y="928370"/>
            <a:ext cx="3048000" cy="4991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6420" y="4126230"/>
            <a:ext cx="2454910" cy="3448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6275" y="3258820"/>
            <a:ext cx="2517775" cy="7315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2235" y="5283835"/>
            <a:ext cx="3180080" cy="6451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rcRect t="10160" r="1639"/>
          <a:stretch>
            <a:fillRect/>
          </a:stretch>
        </p:blipFill>
        <p:spPr>
          <a:xfrm>
            <a:off x="3071495" y="2673350"/>
            <a:ext cx="2705735" cy="6400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2235" y="4471035"/>
            <a:ext cx="3289300" cy="716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28009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图结构特征 +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914400" y="3235325"/>
            <a:ext cx="10789920" cy="685800"/>
            <a:chOff x="1440" y="4320"/>
            <a:chExt cx="16992" cy="1080"/>
          </a:xfrm>
        </p:grpSpPr>
        <p:sp>
          <p:nvSpPr>
            <p:cNvPr id="8" name="Text 6"/>
            <p:cNvSpPr/>
            <p:nvPr/>
          </p:nvSpPr>
          <p:spPr>
            <a:xfrm>
              <a:off x="1440" y="4320"/>
              <a:ext cx="3168" cy="1080"/>
            </a:xfrm>
            <a:prstGeom prst="roundRect">
              <a:avLst/>
            </a:prstGeom>
            <a:solidFill>
              <a:srgbClr val="0B1F3A"/>
            </a:solidFill>
            <a:ln w="12700">
              <a:solidFill>
                <a:srgbClr val="0B1F3A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候选边 (u, v)</a:t>
              </a:r>
              <a:endParaRPr lang="en-US" sz="14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4824" y="4853"/>
              <a:ext cx="1296" cy="0"/>
            </a:xfrm>
            <a:prstGeom prst="line">
              <a:avLst/>
            </a:prstGeom>
            <a:noFill/>
            <a:ln w="1905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10" name="Text 8"/>
            <p:cNvSpPr/>
            <p:nvPr/>
          </p:nvSpPr>
          <p:spPr>
            <a:xfrm>
              <a:off x="6264" y="4320"/>
              <a:ext cx="3312" cy="1080"/>
            </a:xfrm>
            <a:prstGeom prst="roundRect">
              <a:avLst/>
            </a:prstGeom>
            <a:solidFill>
              <a:srgbClr val="486581"/>
            </a:solidFill>
            <a:ln w="12700">
              <a:solidFill>
                <a:srgbClr val="48658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7 维结构特征</a:t>
              </a:r>
              <a:endParaRPr lang="en-US" sz="14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9763" y="4853"/>
              <a:ext cx="1325" cy="0"/>
            </a:xfrm>
            <a:prstGeom prst="line">
              <a:avLst/>
            </a:prstGeom>
            <a:noFill/>
            <a:ln w="1905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12" name="Text 10"/>
            <p:cNvSpPr/>
            <p:nvPr/>
          </p:nvSpPr>
          <p:spPr>
            <a:xfrm>
              <a:off x="11261" y="4320"/>
              <a:ext cx="3024" cy="1080"/>
            </a:xfrm>
            <a:prstGeom prst="roundRect">
              <a:avLst/>
            </a:prstGeom>
            <a:solidFill>
              <a:srgbClr val="2A6F73"/>
            </a:solidFill>
            <a:ln w="12700">
              <a:solidFill>
                <a:srgbClr val="2A6F7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MLP 融合</a:t>
              </a:r>
              <a:endParaRPr lang="en-US" sz="14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4486" y="4853"/>
              <a:ext cx="1282" cy="0"/>
            </a:xfrm>
            <a:prstGeom prst="line">
              <a:avLst/>
            </a:prstGeom>
            <a:noFill/>
            <a:ln w="1905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14" name="Text 12"/>
            <p:cNvSpPr/>
            <p:nvPr/>
          </p:nvSpPr>
          <p:spPr>
            <a:xfrm>
              <a:off x="15912" y="4320"/>
              <a:ext cx="2520" cy="1080"/>
            </a:xfrm>
            <a:prstGeom prst="roundRect">
              <a:avLst/>
            </a:prstGeom>
            <a:solidFill>
              <a:srgbClr val="5A7D7C"/>
            </a:solidFill>
            <a:ln w="12700">
              <a:solidFill>
                <a:srgbClr val="5A7D7C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score(u,v)</a:t>
              </a:r>
              <a:endParaRPr lang="en-US" sz="1300" dirty="0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480" y="1284605"/>
            <a:ext cx="7200900" cy="1733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51000" y="4589780"/>
            <a:ext cx="836104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2400"/>
              <a:t> MLP </a:t>
            </a:r>
            <a:r>
              <a:rPr lang="zh-CN" altLang="en-US" sz="2400"/>
              <a:t>并不是直接从图中学习节点 </a:t>
            </a:r>
            <a:r>
              <a:rPr lang="en-US" altLang="zh-CN" sz="2400"/>
              <a:t>embedding，</a:t>
            </a:r>
            <a:r>
              <a:rPr lang="zh-CN" altLang="en-US" sz="2400"/>
              <a:t>而是学习这些人工结构指标之间如何组合。</a:t>
            </a:r>
          </a:p>
          <a:p>
            <a:pPr algn="ctr"/>
            <a:endParaRPr lang="zh-CN" altLang="en-US" sz="2400"/>
          </a:p>
          <a:p>
            <a:pPr algn="ctr"/>
            <a:r>
              <a:rPr lang="zh-CN" altLang="en-US" sz="2400"/>
              <a:t>它的优势是：输入特征可解释，同时又能学习非线性组合关系。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5364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0B1F3A"/>
                </a:solidFill>
                <a:latin typeface="+mn-ea"/>
                <a:ea typeface="+mn-ea"/>
                <a:cs typeface="Noto Sans CJK SC" pitchFamily="34" charset="-120"/>
                <a:sym typeface="+mn-ea"/>
              </a:rPr>
              <a:t>模型结构：学习结构指标的非线性组合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35025" y="1169670"/>
            <a:ext cx="96881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MLP </a:t>
            </a:r>
            <a:r>
              <a:rPr lang="zh-CN" sz="2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在这里</a:t>
            </a:r>
            <a:r>
              <a:rPr lang="en-US" sz="2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把多个人工图指标</a:t>
            </a:r>
            <a:r>
              <a:rPr lang="zh-CN" altLang="en-US" sz="2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映射</a:t>
            </a:r>
            <a:r>
              <a:rPr lang="en-US" sz="2400" dirty="0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成一个可排序的分数</a:t>
            </a:r>
            <a:endParaRPr lang="en-US" altLang="en-US" sz="2400" dirty="0">
              <a:solidFill>
                <a:schemeClr val="tx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645160" y="2397760"/>
            <a:ext cx="11133455" cy="2392045"/>
            <a:chOff x="1368" y="3096"/>
            <a:chExt cx="17533" cy="2951"/>
          </a:xfrm>
        </p:grpSpPr>
        <p:sp>
          <p:nvSpPr>
            <p:cNvPr id="4" name="Text 5"/>
            <p:cNvSpPr/>
            <p:nvPr/>
          </p:nvSpPr>
          <p:spPr>
            <a:xfrm>
              <a:off x="1368" y="3096"/>
              <a:ext cx="2160" cy="605"/>
            </a:xfrm>
            <a:prstGeom prst="roundRect">
              <a:avLst/>
            </a:prstGeom>
            <a:solidFill>
              <a:srgbClr val="0B1F3A"/>
            </a:solidFill>
            <a:ln w="12700">
              <a:solidFill>
                <a:srgbClr val="0B1F3A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输入层</a:t>
              </a:r>
              <a:endParaRPr lang="en-US" sz="1000" dirty="0"/>
            </a:p>
          </p:txBody>
        </p:sp>
        <p:sp>
          <p:nvSpPr>
            <p:cNvPr id="5" name="Text 6"/>
            <p:cNvSpPr/>
            <p:nvPr/>
          </p:nvSpPr>
          <p:spPr>
            <a:xfrm>
              <a:off x="1368" y="3960"/>
              <a:ext cx="2160" cy="1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0B1F3A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0B1F3A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7</a:t>
              </a:r>
              <a:endParaRPr lang="en-US" sz="3000" dirty="0"/>
            </a:p>
          </p:txBody>
        </p:sp>
        <p:sp>
          <p:nvSpPr>
            <p:cNvPr id="6" name="Text 7"/>
            <p:cNvSpPr/>
            <p:nvPr/>
          </p:nvSpPr>
          <p:spPr>
            <a:xfrm>
              <a:off x="1368" y="5645"/>
              <a:ext cx="216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结构特征</a:t>
              </a:r>
              <a:endParaRPr lang="en-US" sz="900" dirty="0"/>
            </a:p>
          </p:txBody>
        </p:sp>
        <p:sp>
          <p:nvSpPr>
            <p:cNvPr id="13" name="Shape 8"/>
            <p:cNvSpPr/>
            <p:nvPr/>
          </p:nvSpPr>
          <p:spPr>
            <a:xfrm>
              <a:off x="3701" y="4680"/>
              <a:ext cx="446" cy="0"/>
            </a:xfrm>
            <a:prstGeom prst="line">
              <a:avLst/>
            </a:prstGeom>
            <a:noFill/>
            <a:ln w="1651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14" name="Text 9"/>
            <p:cNvSpPr/>
            <p:nvPr/>
          </p:nvSpPr>
          <p:spPr>
            <a:xfrm>
              <a:off x="4320" y="3096"/>
              <a:ext cx="2448" cy="605"/>
            </a:xfrm>
            <a:prstGeom prst="roundRect">
              <a:avLst/>
            </a:prstGeom>
            <a:solidFill>
              <a:srgbClr val="486581"/>
            </a:solidFill>
            <a:ln w="12700">
              <a:solidFill>
                <a:srgbClr val="48658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隐藏层 1</a:t>
              </a:r>
              <a:endParaRPr lang="en-US" sz="10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4320" y="3960"/>
              <a:ext cx="2448" cy="1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486581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486581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64</a:t>
              </a:r>
              <a:endParaRPr lang="en-US" sz="30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4320" y="5645"/>
              <a:ext cx="244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ReLU + Dropout</a:t>
              </a:r>
              <a:endParaRPr lang="en-US" sz="900" dirty="0"/>
            </a:p>
          </p:txBody>
        </p:sp>
        <p:sp>
          <p:nvSpPr>
            <p:cNvPr id="17" name="Shape 12"/>
            <p:cNvSpPr/>
            <p:nvPr/>
          </p:nvSpPr>
          <p:spPr>
            <a:xfrm>
              <a:off x="6941" y="4680"/>
              <a:ext cx="590" cy="0"/>
            </a:xfrm>
            <a:prstGeom prst="line">
              <a:avLst/>
            </a:prstGeom>
            <a:noFill/>
            <a:ln w="1651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18" name="Text 13"/>
            <p:cNvSpPr/>
            <p:nvPr/>
          </p:nvSpPr>
          <p:spPr>
            <a:xfrm>
              <a:off x="7704" y="3096"/>
              <a:ext cx="2448" cy="605"/>
            </a:xfrm>
            <a:prstGeom prst="roundRect">
              <a:avLst/>
            </a:prstGeom>
            <a:solidFill>
              <a:srgbClr val="2A6F73"/>
            </a:solidFill>
            <a:ln w="12700">
              <a:solidFill>
                <a:srgbClr val="2A6F73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隐藏层 2</a:t>
              </a:r>
              <a:endParaRPr lang="en-US" sz="10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7704" y="3960"/>
              <a:ext cx="2448" cy="1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A6F73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2A6F73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32</a:t>
              </a:r>
              <a:endParaRPr lang="en-US" sz="3000" dirty="0"/>
            </a:p>
          </p:txBody>
        </p:sp>
        <p:sp>
          <p:nvSpPr>
            <p:cNvPr id="20" name="Text 15"/>
            <p:cNvSpPr/>
            <p:nvPr/>
          </p:nvSpPr>
          <p:spPr>
            <a:xfrm>
              <a:off x="7704" y="5645"/>
              <a:ext cx="244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ReLU + Dropout</a:t>
              </a:r>
              <a:endParaRPr lang="en-US" sz="900" dirty="0"/>
            </a:p>
          </p:txBody>
        </p:sp>
        <p:sp>
          <p:nvSpPr>
            <p:cNvPr id="21" name="Shape 16"/>
            <p:cNvSpPr/>
            <p:nvPr/>
          </p:nvSpPr>
          <p:spPr>
            <a:xfrm>
              <a:off x="10325" y="4680"/>
              <a:ext cx="590" cy="0"/>
            </a:xfrm>
            <a:prstGeom prst="line">
              <a:avLst/>
            </a:prstGeom>
            <a:noFill/>
            <a:ln w="16510">
              <a:solidFill>
                <a:srgbClr val="334E68"/>
              </a:solidFill>
              <a:prstDash val="solid"/>
              <a:tailEnd type="triangle"/>
            </a:ln>
          </p:spPr>
        </p:sp>
        <p:sp>
          <p:nvSpPr>
            <p:cNvPr id="22" name="Text 17"/>
            <p:cNvSpPr/>
            <p:nvPr/>
          </p:nvSpPr>
          <p:spPr>
            <a:xfrm>
              <a:off x="11088" y="3096"/>
              <a:ext cx="2160" cy="605"/>
            </a:xfrm>
            <a:prstGeom prst="roundRect">
              <a:avLst/>
            </a:prstGeom>
            <a:solidFill>
              <a:srgbClr val="5A7D7C"/>
            </a:solidFill>
            <a:ln w="12700">
              <a:solidFill>
                <a:srgbClr val="5A7D7C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输出层</a:t>
              </a:r>
              <a:endParaRPr lang="en-US" sz="100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11088" y="3960"/>
              <a:ext cx="2160" cy="144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5A7D7C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5A7D7C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1</a:t>
              </a:r>
              <a:endParaRPr lang="en-US" sz="3000" dirty="0"/>
            </a:p>
          </p:txBody>
        </p:sp>
        <p:sp>
          <p:nvSpPr>
            <p:cNvPr id="24" name="Text 19"/>
            <p:cNvSpPr/>
            <p:nvPr/>
          </p:nvSpPr>
          <p:spPr>
            <a:xfrm>
              <a:off x="11088" y="5645"/>
              <a:ext cx="216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logit</a:t>
              </a:r>
              <a:endParaRPr lang="en-US" sz="900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84" y="3096"/>
              <a:ext cx="4808" cy="1003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421" y="4337"/>
              <a:ext cx="5481" cy="1063"/>
            </a:xfrm>
            <a:prstGeom prst="rect">
              <a:avLst/>
            </a:prstGeom>
          </p:spPr>
        </p:pic>
      </p:grpSp>
      <p:sp>
        <p:nvSpPr>
          <p:cNvPr id="32" name="文本框 31"/>
          <p:cNvSpPr txBox="1"/>
          <p:nvPr/>
        </p:nvSpPr>
        <p:spPr>
          <a:xfrm>
            <a:off x="1948180" y="5890260"/>
            <a:ext cx="9035378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latin typeface="+mj-ea"/>
                <a:ea typeface="+mj-ea"/>
                <a:cs typeface="+mj-ea"/>
                <a:sym typeface="+mn-ea"/>
              </a:rPr>
              <a:t>MLP 学的是多个结构指标之间的非线性组合。</a:t>
            </a:r>
            <a:endParaRPr lang="en-US" altLang="en-US" sz="3200" b="1" dirty="0">
              <a:latin typeface="+mj-ea"/>
              <a:ea typeface="+mj-ea"/>
              <a:cs typeface="+mj-ea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705" y="5002530"/>
            <a:ext cx="3514725" cy="6762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200" y="4790440"/>
            <a:ext cx="3695700" cy="952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>
            <a:fillRect/>
          </a:stretch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/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/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02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5363210" y="2554605"/>
            <a:ext cx="56013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solidFill>
                  <a:schemeClr val="accent3"/>
                </a:solidFill>
              </a:rPr>
              <a:t>LightGCN + </a:t>
            </a:r>
            <a:r>
              <a:rPr lang="zh-CN" altLang="en-US" sz="4000" b="1" dirty="0" err="1">
                <a:solidFill>
                  <a:schemeClr val="accent3"/>
                </a:solidFill>
              </a:rPr>
              <a:t>数据分析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1151-018D-5B77-8DE5-5B15E975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2" name="TextBox 25">
            <a:extLst>
              <a:ext uri="{FF2B5EF4-FFF2-40B4-BE49-F238E27FC236}">
                <a16:creationId xmlns:a16="http://schemas.microsoft.com/office/drawing/2014/main" id="{1726AB2E-2FDC-CF74-B01C-2796B27FE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336931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传统结构指标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F2B9D10-16F1-5E42-118E-FB4B648D1D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B7C30B-9916-9F58-0DD5-9D441D50D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35" y="1539875"/>
            <a:ext cx="3267710" cy="368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C1874AC-314C-590A-761B-CFE2B19E04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4" t="11156" r="-1094" b="-11156"/>
          <a:stretch>
            <a:fillRect/>
          </a:stretch>
        </p:blipFill>
        <p:spPr>
          <a:xfrm>
            <a:off x="2242185" y="2217420"/>
            <a:ext cx="4507230" cy="3454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F978A47-8BF8-4835-4E97-4DFC0CF03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30" y="928370"/>
            <a:ext cx="904875" cy="50006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0D171A-C674-AF1D-4C33-3ACB6D6328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6420" y="4126230"/>
            <a:ext cx="2454910" cy="3448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E1F410-D0A6-6CDC-BA1F-B1A5A9002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6275" y="3258820"/>
            <a:ext cx="2517775" cy="7315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C43E74-0D52-4A0C-9DBD-E3E3644FCD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2235" y="5283835"/>
            <a:ext cx="3180080" cy="6451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E4C466A-FDA7-0FA3-5FBD-03AD9B972BA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10160" r="1639"/>
          <a:stretch>
            <a:fillRect/>
          </a:stretch>
        </p:blipFill>
        <p:spPr>
          <a:xfrm>
            <a:off x="3071495" y="2673350"/>
            <a:ext cx="2705735" cy="6400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8FBA952-411F-8E00-B42B-B807B9E0D3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235" y="4471035"/>
            <a:ext cx="3289300" cy="71691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0A94B23-59FC-3F43-DDB3-C32071863706}"/>
              </a:ext>
            </a:extLst>
          </p:cNvPr>
          <p:cNvSpPr/>
          <p:nvPr/>
        </p:nvSpPr>
        <p:spPr>
          <a:xfrm>
            <a:off x="463639" y="1397358"/>
            <a:ext cx="6432998" cy="46750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39E065-B0D9-A303-98B4-A2972D758A34}"/>
              </a:ext>
            </a:extLst>
          </p:cNvPr>
          <p:cNvSpPr txBox="1"/>
          <p:nvPr/>
        </p:nvSpPr>
        <p:spPr>
          <a:xfrm>
            <a:off x="7295882" y="1539875"/>
            <a:ext cx="3573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特征工程：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FF0000"/>
                </a:solidFill>
              </a:rPr>
              <a:t>Feature Engineering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DA14DB-FA44-D62A-BF2C-9E15E4403346}"/>
              </a:ext>
            </a:extLst>
          </p:cNvPr>
          <p:cNvSpPr txBox="1"/>
          <p:nvPr/>
        </p:nvSpPr>
        <p:spPr>
          <a:xfrm>
            <a:off x="7295882" y="3821578"/>
            <a:ext cx="35738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能不能不要人工设计特征而是机器自己学习特征呢？</a:t>
            </a:r>
          </a:p>
        </p:txBody>
      </p:sp>
    </p:spTree>
    <p:extLst>
      <p:ext uri="{BB962C8B-B14F-4D97-AF65-F5344CB8AC3E}">
        <p14:creationId xmlns:p14="http://schemas.microsoft.com/office/powerpoint/2010/main" val="1807239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9" name="文本框 43"/>
          <p:cNvSpPr txBox="1">
            <a:spLocks noChangeArrowheads="1"/>
          </p:cNvSpPr>
          <p:nvPr/>
        </p:nvSpPr>
        <p:spPr bwMode="auto">
          <a:xfrm>
            <a:off x="-4542" y="969183"/>
            <a:ext cx="2305005" cy="937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协同过滤</a:t>
            </a:r>
            <a:endParaRPr lang="en-US" altLang="zh-CN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+embedding</a:t>
            </a:r>
            <a:endParaRPr lang="zh-CN" altLang="en-US" sz="2400" b="1" baseline="-30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2800071" y="3062818"/>
            <a:ext cx="184712" cy="338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/>
          <a:p>
            <a:pPr algn="ctr" eaLnBrk="1" hangingPunct="1"/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5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8528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从推荐系统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(recommendation system)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得到的灵感</a:t>
            </a:r>
          </a:p>
        </p:txBody>
      </p:sp>
      <p:sp>
        <p:nvSpPr>
          <p:cNvPr id="19" name="箭头2"/>
          <p:cNvSpPr>
            <a:spLocks noChangeArrowheads="1"/>
          </p:cNvSpPr>
          <p:nvPr/>
        </p:nvSpPr>
        <p:spPr bwMode="auto">
          <a:xfrm rot="-5400000">
            <a:off x="6281477" y="1798832"/>
            <a:ext cx="325967" cy="1299633"/>
          </a:xfrm>
          <a:custGeom>
            <a:avLst/>
            <a:gdLst>
              <a:gd name="T0" fmla="*/ 109671141 w 142"/>
              <a:gd name="T1" fmla="*/ 2604646 h 604"/>
              <a:gd name="T2" fmla="*/ 133383494 w 142"/>
              <a:gd name="T3" fmla="*/ 1229228280 h 604"/>
              <a:gd name="T4" fmla="*/ 0 w 142"/>
              <a:gd name="T5" fmla="*/ 1234435958 h 604"/>
              <a:gd name="T6" fmla="*/ 213414623 w 142"/>
              <a:gd name="T7" fmla="*/ 1572994744 h 604"/>
              <a:gd name="T8" fmla="*/ 420901589 w 142"/>
              <a:gd name="T9" fmla="*/ 1234435958 h 604"/>
              <a:gd name="T10" fmla="*/ 296408721 w 142"/>
              <a:gd name="T11" fmla="*/ 1234435958 h 604"/>
              <a:gd name="T12" fmla="*/ 293445753 w 142"/>
              <a:gd name="T13" fmla="*/ 0 h 604"/>
              <a:gd name="T14" fmla="*/ 109671141 w 142"/>
              <a:gd name="T15" fmla="*/ 2604646 h 6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20" name="文本框 43"/>
          <p:cNvSpPr txBox="1">
            <a:spLocks noChangeArrowheads="1"/>
          </p:cNvSpPr>
          <p:nvPr/>
        </p:nvSpPr>
        <p:spPr bwMode="auto">
          <a:xfrm>
            <a:off x="-67245" y="4438222"/>
            <a:ext cx="2196297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图神经网络</a:t>
            </a:r>
            <a:endParaRPr lang="zh-CN" altLang="en-US" sz="2400" b="1" baseline="-3000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161" y="4068950"/>
            <a:ext cx="5655828" cy="26804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064" y="4047316"/>
            <a:ext cx="3889986" cy="28106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4A628ED-6A3D-C4DD-BEA4-131BC5154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9052" y="907123"/>
            <a:ext cx="3533298" cy="31618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D5CF4A6-2534-D9D2-32D7-E83A7CA67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773" y="967210"/>
            <a:ext cx="4181411" cy="3029707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>
            <a:spLocks noChangeArrowheads="1"/>
          </p:cNvSpPr>
          <p:nvPr/>
        </p:nvSpPr>
        <p:spPr bwMode="auto">
          <a:xfrm>
            <a:off x="743803" y="0"/>
            <a:ext cx="8256895" cy="6486042"/>
          </a:xfrm>
          <a:custGeom>
            <a:avLst/>
            <a:gdLst>
              <a:gd name="T0" fmla="*/ 0 w 3668"/>
              <a:gd name="T1" fmla="*/ 2147483647 h 3785"/>
              <a:gd name="T2" fmla="*/ 361524104 w 3668"/>
              <a:gd name="T3" fmla="*/ 2147483647 h 3785"/>
              <a:gd name="T4" fmla="*/ 735908169 w 3668"/>
              <a:gd name="T5" fmla="*/ 2147483647 h 3785"/>
              <a:gd name="T6" fmla="*/ 1140300002 w 3668"/>
              <a:gd name="T7" fmla="*/ 2121163345 h 3785"/>
              <a:gd name="T8" fmla="*/ 1646146616 w 3668"/>
              <a:gd name="T9" fmla="*/ 1908378373 h 3785"/>
              <a:gd name="T10" fmla="*/ 2147483647 w 3668"/>
              <a:gd name="T11" fmla="*/ 1648839571 h 3785"/>
              <a:gd name="T12" fmla="*/ 2147483647 w 3668"/>
              <a:gd name="T13" fmla="*/ 1455138851 h 3785"/>
              <a:gd name="T14" fmla="*/ 2147483647 w 3668"/>
              <a:gd name="T15" fmla="*/ 1330140269 h 3785"/>
              <a:gd name="T16" fmla="*/ 2147483647 w 3668"/>
              <a:gd name="T17" fmla="*/ 1127852271 h 3785"/>
              <a:gd name="T18" fmla="*/ 2147483647 w 3668"/>
              <a:gd name="T19" fmla="*/ 935105911 h 3785"/>
              <a:gd name="T20" fmla="*/ 2147483647 w 3668"/>
              <a:gd name="T21" fmla="*/ 732816936 h 3785"/>
              <a:gd name="T22" fmla="*/ 2147483647 w 3668"/>
              <a:gd name="T23" fmla="*/ 578239081 h 3785"/>
              <a:gd name="T24" fmla="*/ 2147483647 w 3668"/>
              <a:gd name="T25" fmla="*/ 336829195 h 3785"/>
              <a:gd name="T26" fmla="*/ 2147483647 w 3668"/>
              <a:gd name="T27" fmla="*/ 240455527 h 3785"/>
              <a:gd name="T28" fmla="*/ 2147483647 w 3668"/>
              <a:gd name="T29" fmla="*/ 0 h 3785"/>
              <a:gd name="T30" fmla="*/ 2147483647 w 3668"/>
              <a:gd name="T31" fmla="*/ 655528497 h 3785"/>
              <a:gd name="T32" fmla="*/ 2147483647 w 3668"/>
              <a:gd name="T33" fmla="*/ 500949665 h 3785"/>
              <a:gd name="T34" fmla="*/ 2147483647 w 3668"/>
              <a:gd name="T35" fmla="*/ 790068717 h 3785"/>
              <a:gd name="T36" fmla="*/ 2147483647 w 3668"/>
              <a:gd name="T37" fmla="*/ 1146935547 h 3785"/>
              <a:gd name="T38" fmla="*/ 2147483647 w 3668"/>
              <a:gd name="T39" fmla="*/ 1445597213 h 3785"/>
              <a:gd name="T40" fmla="*/ 2147483647 w 3668"/>
              <a:gd name="T41" fmla="*/ 1658381209 h 3785"/>
              <a:gd name="T42" fmla="*/ 2147483647 w 3668"/>
              <a:gd name="T43" fmla="*/ 1879753459 h 3785"/>
              <a:gd name="T44" fmla="*/ 2147483647 w 3668"/>
              <a:gd name="T45" fmla="*/ 2082041458 h 3785"/>
              <a:gd name="T46" fmla="*/ 2147483647 w 3668"/>
              <a:gd name="T47" fmla="*/ 2147483647 h 3785"/>
              <a:gd name="T48" fmla="*/ 2147483647 w 3668"/>
              <a:gd name="T49" fmla="*/ 2147483647 h 3785"/>
              <a:gd name="T50" fmla="*/ 2147483647 w 3668"/>
              <a:gd name="T51" fmla="*/ 2147483647 h 3785"/>
              <a:gd name="T52" fmla="*/ 2147483647 w 3668"/>
              <a:gd name="T53" fmla="*/ 2147483647 h 3785"/>
              <a:gd name="T54" fmla="*/ 2147483647 w 3668"/>
              <a:gd name="T55" fmla="*/ 2147483647 h 3785"/>
              <a:gd name="T56" fmla="*/ 0 w 3668"/>
              <a:gd name="T57" fmla="*/ 2147483647 h 3785"/>
              <a:gd name="T58" fmla="*/ 0 w 3668"/>
              <a:gd name="T59" fmla="*/ 2147483647 h 3785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0" t="0" r="r" b="b"/>
            <a:pathLst>
              <a:path w="3668" h="3785">
                <a:moveTo>
                  <a:pt x="0" y="2742"/>
                </a:moveTo>
                <a:lnTo>
                  <a:pt x="253" y="2556"/>
                </a:lnTo>
                <a:lnTo>
                  <a:pt x="515" y="2395"/>
                </a:lnTo>
                <a:lnTo>
                  <a:pt x="798" y="2223"/>
                </a:lnTo>
                <a:lnTo>
                  <a:pt x="1152" y="2000"/>
                </a:lnTo>
                <a:lnTo>
                  <a:pt x="1587" y="1728"/>
                </a:lnTo>
                <a:lnTo>
                  <a:pt x="1869" y="1525"/>
                </a:lnTo>
                <a:lnTo>
                  <a:pt x="2061" y="1394"/>
                </a:lnTo>
                <a:lnTo>
                  <a:pt x="2324" y="1182"/>
                </a:lnTo>
                <a:lnTo>
                  <a:pt x="2557" y="980"/>
                </a:lnTo>
                <a:lnTo>
                  <a:pt x="2769" y="768"/>
                </a:lnTo>
                <a:lnTo>
                  <a:pt x="2941" y="606"/>
                </a:lnTo>
                <a:lnTo>
                  <a:pt x="3193" y="353"/>
                </a:lnTo>
                <a:lnTo>
                  <a:pt x="3011" y="252"/>
                </a:lnTo>
                <a:lnTo>
                  <a:pt x="3648" y="0"/>
                </a:lnTo>
                <a:lnTo>
                  <a:pt x="3668" y="687"/>
                </a:lnTo>
                <a:lnTo>
                  <a:pt x="3466" y="525"/>
                </a:lnTo>
                <a:lnTo>
                  <a:pt x="3213" y="828"/>
                </a:lnTo>
                <a:lnTo>
                  <a:pt x="2910" y="1202"/>
                </a:lnTo>
                <a:lnTo>
                  <a:pt x="2698" y="1515"/>
                </a:lnTo>
                <a:lnTo>
                  <a:pt x="2597" y="1738"/>
                </a:lnTo>
                <a:lnTo>
                  <a:pt x="2496" y="1970"/>
                </a:lnTo>
                <a:lnTo>
                  <a:pt x="2435" y="2182"/>
                </a:lnTo>
                <a:lnTo>
                  <a:pt x="2375" y="2384"/>
                </a:lnTo>
                <a:lnTo>
                  <a:pt x="2264" y="2779"/>
                </a:lnTo>
                <a:lnTo>
                  <a:pt x="2183" y="3152"/>
                </a:lnTo>
                <a:lnTo>
                  <a:pt x="2122" y="3445"/>
                </a:lnTo>
                <a:lnTo>
                  <a:pt x="2042" y="3785"/>
                </a:lnTo>
                <a:lnTo>
                  <a:pt x="0" y="3785"/>
                </a:lnTo>
                <a:lnTo>
                  <a:pt x="0" y="2742"/>
                </a:lnTo>
                <a:close/>
              </a:path>
            </a:pathLst>
          </a:custGeom>
          <a:gradFill rotWithShape="1">
            <a:gsLst>
              <a:gs pos="0">
                <a:srgbClr val="BFBFBF"/>
              </a:gs>
              <a:gs pos="100000">
                <a:srgbClr val="FFFFFF">
                  <a:alpha val="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83831" tIns="41916" rIns="83831" bIns="41916" anchor="ctr"/>
          <a:lstStyle/>
          <a:p>
            <a:endParaRPr lang="zh-CN" altLang="en-US" sz="2400"/>
          </a:p>
        </p:txBody>
      </p:sp>
      <p:sp>
        <p:nvSpPr>
          <p:cNvPr id="4" name="圆角矩形 3"/>
          <p:cNvSpPr/>
          <p:nvPr/>
        </p:nvSpPr>
        <p:spPr>
          <a:xfrm>
            <a:off x="1385721" y="4527535"/>
            <a:ext cx="2258705" cy="57709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6000">
                <a:schemeClr val="accent2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初始化每个节点的 </a:t>
            </a:r>
            <a:r>
              <a:rPr lang="en-US" altLang="zh-CN" sz="2000" dirty="0"/>
              <a:t>embedding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391674" y="3810522"/>
            <a:ext cx="2258705" cy="577093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dirty="0"/>
              <a:t>进行 </a:t>
            </a:r>
            <a:r>
              <a:rPr lang="en-US" altLang="zh-CN" dirty="0"/>
              <a:t>K </a:t>
            </a:r>
            <a:r>
              <a:rPr lang="zh-CN" altLang="en-US" dirty="0"/>
              <a:t>层图传播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221148" y="3205243"/>
            <a:ext cx="3472424" cy="523220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6000">
                <a:schemeClr val="accent2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将每一层 </a:t>
            </a:r>
            <a:r>
              <a:rPr lang="en-US" altLang="zh-CN" sz="2000" dirty="0"/>
              <a:t>embedding </a:t>
            </a:r>
            <a:r>
              <a:rPr lang="zh-CN" altLang="en-US" sz="2000" dirty="0"/>
              <a:t>求平均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515579" y="2358309"/>
            <a:ext cx="2609470" cy="658096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用内积计算两个节点新</a:t>
            </a:r>
            <a:r>
              <a:rPr lang="en-US" altLang="zh-CN" sz="2000" dirty="0"/>
              <a:t>embedding</a:t>
            </a:r>
            <a:r>
              <a:rPr lang="zh-CN" altLang="en-US" sz="2000" dirty="0"/>
              <a:t>的分数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56979" y="5244549"/>
            <a:ext cx="1739899" cy="577093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构建好友图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5"/>
          <p:cNvSpPr txBox="1">
            <a:spLocks noChangeArrowheads="1"/>
          </p:cNvSpPr>
          <p:nvPr/>
        </p:nvSpPr>
        <p:spPr bwMode="auto">
          <a:xfrm>
            <a:off x="193559" y="254391"/>
            <a:ext cx="70902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LightGCN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(training)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与预测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(predict)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2" name="圆角矩形 3"/>
          <p:cNvSpPr/>
          <p:nvPr/>
        </p:nvSpPr>
        <p:spPr>
          <a:xfrm>
            <a:off x="5609231" y="1592377"/>
            <a:ext cx="2609470" cy="57709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6000">
                <a:schemeClr val="accent2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采样正样本和负样本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6"/>
          <p:cNvSpPr/>
          <p:nvPr/>
        </p:nvSpPr>
        <p:spPr>
          <a:xfrm>
            <a:off x="6612434" y="839862"/>
            <a:ext cx="2609470" cy="658096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用 </a:t>
            </a:r>
            <a:r>
              <a:rPr lang="en-US" altLang="zh-CN" sz="2000" dirty="0"/>
              <a:t>BPR Loss </a:t>
            </a:r>
            <a:r>
              <a:rPr lang="zh-CN" altLang="en-US" sz="2000" dirty="0"/>
              <a:t>或 </a:t>
            </a:r>
            <a:r>
              <a:rPr lang="en-US" altLang="zh-CN" sz="2000" dirty="0"/>
              <a:t>BCE Loss </a:t>
            </a:r>
            <a:r>
              <a:rPr lang="zh-CN" altLang="en-US" sz="2000" dirty="0"/>
              <a:t>训练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1828800" y="2242347"/>
            <a:ext cx="375282" cy="221374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8"/>
          <p:cNvSpPr/>
          <p:nvPr/>
        </p:nvSpPr>
        <p:spPr>
          <a:xfrm>
            <a:off x="906136" y="1629532"/>
            <a:ext cx="2971075" cy="577093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反向传播更新初始 </a:t>
            </a:r>
            <a:r>
              <a:rPr lang="en-US" altLang="zh-CN" sz="2000" dirty="0"/>
              <a:t>embedding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箭头2"/>
          <p:cNvSpPr>
            <a:spLocks noChangeArrowheads="1"/>
          </p:cNvSpPr>
          <p:nvPr/>
        </p:nvSpPr>
        <p:spPr bwMode="auto">
          <a:xfrm rot="21094677">
            <a:off x="8785207" y="1778426"/>
            <a:ext cx="1058818" cy="3157461"/>
          </a:xfrm>
          <a:custGeom>
            <a:avLst/>
            <a:gdLst>
              <a:gd name="T0" fmla="*/ 109671141 w 142"/>
              <a:gd name="T1" fmla="*/ 2604646 h 604"/>
              <a:gd name="T2" fmla="*/ 133383494 w 142"/>
              <a:gd name="T3" fmla="*/ 1229228280 h 604"/>
              <a:gd name="T4" fmla="*/ 0 w 142"/>
              <a:gd name="T5" fmla="*/ 1234435958 h 604"/>
              <a:gd name="T6" fmla="*/ 213414623 w 142"/>
              <a:gd name="T7" fmla="*/ 1572994744 h 604"/>
              <a:gd name="T8" fmla="*/ 420901589 w 142"/>
              <a:gd name="T9" fmla="*/ 1234435958 h 604"/>
              <a:gd name="T10" fmla="*/ 296408721 w 142"/>
              <a:gd name="T11" fmla="*/ 1234435958 h 604"/>
              <a:gd name="T12" fmla="*/ 293445753 w 142"/>
              <a:gd name="T13" fmla="*/ 0 h 604"/>
              <a:gd name="T14" fmla="*/ 109671141 w 142"/>
              <a:gd name="T15" fmla="*/ 2604646 h 6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34" name="圆角矩形 3"/>
          <p:cNvSpPr/>
          <p:nvPr/>
        </p:nvSpPr>
        <p:spPr>
          <a:xfrm>
            <a:off x="8421589" y="2608126"/>
            <a:ext cx="2258705" cy="577094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6000">
                <a:schemeClr val="accent2"/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训练结束</a:t>
            </a:r>
          </a:p>
        </p:txBody>
      </p:sp>
      <p:sp>
        <p:nvSpPr>
          <p:cNvPr id="35" name="圆角矩形 6"/>
          <p:cNvSpPr/>
          <p:nvPr/>
        </p:nvSpPr>
        <p:spPr>
          <a:xfrm>
            <a:off x="8374088" y="4996402"/>
            <a:ext cx="2609470" cy="658096"/>
          </a:xfrm>
          <a:prstGeom prst="round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5400000" algn="t" rotWithShape="0">
              <a:schemeClr val="accent3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831" tIns="41916" rIns="83831" bIns="41916" anchor="ctr"/>
          <a:lstStyle/>
          <a:p>
            <a:pPr algn="ctr">
              <a:defRPr/>
            </a:pPr>
            <a:r>
              <a:rPr lang="zh-CN" altLang="en-US" sz="2000" dirty="0"/>
              <a:t>分数排序做 </a:t>
            </a:r>
            <a:r>
              <a:rPr lang="en-US" altLang="zh-CN" sz="2000" dirty="0"/>
              <a:t>Top-K </a:t>
            </a:r>
            <a:r>
              <a:rPr lang="zh-CN" altLang="en-US" sz="2000" dirty="0"/>
              <a:t>好友预测</a:t>
            </a:r>
            <a:endParaRPr lang="zh-CN" alt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C96DAE0-2255-E620-D8E1-9A6FEFA83AE6}"/>
              </a:ext>
            </a:extLst>
          </p:cNvPr>
          <p:cNvPicPr/>
          <p:nvPr/>
        </p:nvPicPr>
        <p:blipFill>
          <a:blip r:embed="rId4"/>
          <a:srcRect l="17247" t="21371" r="22158" b="21371"/>
          <a:stretch>
            <a:fillRect/>
          </a:stretch>
        </p:blipFill>
        <p:spPr>
          <a:xfrm>
            <a:off x="3830027" y="4675564"/>
            <a:ext cx="1002506" cy="3775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F6FA392-0999-4E3B-7FCC-038E5E993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147" y="3085629"/>
            <a:ext cx="1364679" cy="6867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20DCAB9-AB34-4397-590B-FF023A4F1B6F}"/>
              </a:ext>
            </a:extLst>
          </p:cNvPr>
          <p:cNvPicPr>
            <a:picLocks/>
          </p:cNvPicPr>
          <p:nvPr/>
        </p:nvPicPr>
        <p:blipFill>
          <a:blip r:embed="rId6"/>
          <a:srcRect l="5824" t="13505" r="10831" b="9732"/>
          <a:stretch>
            <a:fillRect/>
          </a:stretch>
        </p:blipFill>
        <p:spPr>
          <a:xfrm>
            <a:off x="4788479" y="3913134"/>
            <a:ext cx="3281499" cy="61440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58D6525-0CBF-6F78-DBD3-11509FCB3CA0}"/>
              </a:ext>
            </a:extLst>
          </p:cNvPr>
          <p:cNvPicPr/>
          <p:nvPr/>
        </p:nvPicPr>
        <p:blipFill>
          <a:blip r:embed="rId7"/>
          <a:srcRect l="14738" r="18179"/>
          <a:stretch>
            <a:fillRect/>
          </a:stretch>
        </p:blipFill>
        <p:spPr>
          <a:xfrm>
            <a:off x="7236575" y="2407276"/>
            <a:ext cx="1148525" cy="48939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B953525-5D3D-6976-BF54-2A394509D546}"/>
              </a:ext>
            </a:extLst>
          </p:cNvPr>
          <p:cNvPicPr>
            <a:picLocks/>
          </p:cNvPicPr>
          <p:nvPr/>
        </p:nvPicPr>
        <p:blipFill>
          <a:blip r:embed="rId8"/>
          <a:srcRect r="5913" b="5284"/>
          <a:stretch>
            <a:fillRect/>
          </a:stretch>
        </p:blipFill>
        <p:spPr>
          <a:xfrm>
            <a:off x="2391674" y="794829"/>
            <a:ext cx="4115851" cy="615771"/>
          </a:xfrm>
          <a:prstGeom prst="rect">
            <a:avLst/>
          </a:prstGeom>
        </p:spPr>
      </p:pic>
      <p:cxnSp>
        <p:nvCxnSpPr>
          <p:cNvPr id="15" name="直接连接符 14"/>
          <p:cNvCxnSpPr>
            <a:cxnSpLocks/>
          </p:cNvCxnSpPr>
          <p:nvPr/>
        </p:nvCxnSpPr>
        <p:spPr>
          <a:xfrm flipV="1">
            <a:off x="3803374" y="1304428"/>
            <a:ext cx="2859558" cy="430612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340E7699-2248-BFA6-79A0-D407DB1DE15C}"/>
              </a:ext>
            </a:extLst>
          </p:cNvPr>
          <p:cNvPicPr/>
          <p:nvPr/>
        </p:nvPicPr>
        <p:blipFill>
          <a:blip r:embed="rId7"/>
          <a:srcRect l="14738" r="18179"/>
          <a:stretch>
            <a:fillRect/>
          </a:stretch>
        </p:blipFill>
        <p:spPr>
          <a:xfrm>
            <a:off x="10217003" y="4387615"/>
            <a:ext cx="1148525" cy="4893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5"/>
          <p:cNvSpPr/>
          <p:nvPr/>
        </p:nvSpPr>
        <p:spPr>
          <a:xfrm>
            <a:off x="1560217" y="1192099"/>
            <a:ext cx="2571750" cy="1323801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zh-CN" altLang="en-US" sz="2400" dirty="0"/>
              <a:t>二分类指标</a:t>
            </a:r>
            <a:endParaRPr lang="en-US" sz="24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val 4"/>
          <p:cNvSpPr/>
          <p:nvPr/>
        </p:nvSpPr>
        <p:spPr>
          <a:xfrm>
            <a:off x="6634668" y="1219857"/>
            <a:ext cx="3068122" cy="1178334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6000">
                <a:schemeClr val="accent2"/>
              </a:gs>
            </a:gsLst>
            <a:lin ang="0" scaled="1"/>
          </a:gra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>
              <a:defRPr/>
            </a:pPr>
            <a:r>
              <a:rPr lang="en-US" altLang="zh-CN" sz="2800" dirty="0"/>
              <a:t>Top-K </a:t>
            </a:r>
            <a:r>
              <a:rPr lang="zh-CN" altLang="en-US" sz="2800" dirty="0"/>
              <a:t>推荐指标</a:t>
            </a:r>
            <a:endParaRPr lang="en-US" sz="2800" b="1" noProof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3233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评价指标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(metrics)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2"/>
          <a:srcRect l="6402" t="14272" r="8580" b="28586"/>
          <a:stretch>
            <a:fillRect/>
          </a:stretch>
        </p:blipFill>
        <p:spPr>
          <a:xfrm>
            <a:off x="1005335" y="2869442"/>
            <a:ext cx="3330053" cy="559558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rcRect l="35649" t="4824" r="13234" b="55704"/>
          <a:stretch>
            <a:fillRect/>
          </a:stretch>
        </p:blipFill>
        <p:spPr>
          <a:xfrm>
            <a:off x="513009" y="3838634"/>
            <a:ext cx="4026090" cy="119418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234" y="2417817"/>
            <a:ext cx="6592681" cy="111362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636" y="3415351"/>
            <a:ext cx="6315355" cy="113832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882" y="4528980"/>
            <a:ext cx="4075137" cy="100767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2972" y="4553674"/>
            <a:ext cx="2950845" cy="75267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6413" y="5575902"/>
            <a:ext cx="4167892" cy="984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88B3F4-7465-5F5A-1847-E15E25065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49" y="267573"/>
            <a:ext cx="8854226" cy="64368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F581D1E-FB68-79CF-1364-CD6BABE42CC3}"/>
              </a:ext>
            </a:extLst>
          </p:cNvPr>
          <p:cNvSpPr txBox="1"/>
          <p:nvPr/>
        </p:nvSpPr>
        <p:spPr>
          <a:xfrm>
            <a:off x="302653" y="418563"/>
            <a:ext cx="2112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+mj-ea"/>
                <a:ea typeface="+mj-ea"/>
              </a:rPr>
              <a:t>实验公平性</a:t>
            </a:r>
          </a:p>
        </p:txBody>
      </p:sp>
    </p:spTree>
    <p:extLst>
      <p:ext uri="{BB962C8B-B14F-4D97-AF65-F5344CB8AC3E}">
        <p14:creationId xmlns:p14="http://schemas.microsoft.com/office/powerpoint/2010/main" val="2506722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cut/>
      </p:transition>
    </mc:Choice>
    <mc:Fallback xmlns="">
      <p:transition spd="slow" advTm="3000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74997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数据对比（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 vs NLP vs </a:t>
            </a:r>
            <a:r>
              <a:rPr lang="en-US" altLang="zh-CN" sz="2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LightGCN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60" y="1187355"/>
            <a:ext cx="10856794" cy="534068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47936" y="5904637"/>
            <a:ext cx="10751546" cy="549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47936" y="4260376"/>
            <a:ext cx="10751546" cy="549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47936" y="5345511"/>
            <a:ext cx="10751546" cy="549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6728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更多的数据集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(dataset)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和方案</a:t>
            </a: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(method)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298461" y="1292453"/>
            <a:ext cx="1461069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新的数据集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972" y="988721"/>
            <a:ext cx="7396033" cy="215789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465897" y="3784875"/>
            <a:ext cx="1293633" cy="4298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sym typeface="Arial" panose="020B0604020202020204"/>
              </a:rPr>
              <a:t>新的方法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6949" y="3387600"/>
            <a:ext cx="5205599" cy="347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25"/>
          <p:cNvSpPr txBox="1">
            <a:spLocks noChangeArrowheads="1"/>
          </p:cNvSpPr>
          <p:nvPr/>
        </p:nvSpPr>
        <p:spPr bwMode="auto">
          <a:xfrm>
            <a:off x="324188" y="371958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大汇总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4"/>
          <a:srcRect l="741"/>
          <a:stretch>
            <a:fillRect/>
          </a:stretch>
        </p:blipFill>
        <p:spPr>
          <a:xfrm>
            <a:off x="392860" y="1239484"/>
            <a:ext cx="11590307" cy="53114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25"/>
          <p:cNvSpPr txBox="1">
            <a:spLocks noChangeArrowheads="1"/>
          </p:cNvSpPr>
          <p:nvPr/>
        </p:nvSpPr>
        <p:spPr bwMode="auto">
          <a:xfrm>
            <a:off x="404016" y="263101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8587" y="927427"/>
            <a:ext cx="10464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在 </a:t>
            </a:r>
            <a:r>
              <a:rPr lang="en-US" altLang="zh-CN" sz="2000" dirty="0"/>
              <a:t>Facebook</a:t>
            </a:r>
            <a:r>
              <a:rPr lang="zh-CN" altLang="en-US" sz="2000" dirty="0"/>
              <a:t>、</a:t>
            </a:r>
            <a:r>
              <a:rPr lang="en-US" altLang="zh-CN" sz="2000" dirty="0"/>
              <a:t>ca-</a:t>
            </a:r>
            <a:r>
              <a:rPr lang="en-US" altLang="zh-CN" sz="2000" dirty="0" err="1"/>
              <a:t>GrQc</a:t>
            </a:r>
            <a:r>
              <a:rPr lang="en-US" altLang="zh-CN" sz="2000" dirty="0"/>
              <a:t> </a:t>
            </a:r>
            <a:r>
              <a:rPr lang="zh-CN" altLang="en-US" sz="2000" dirty="0"/>
              <a:t>和 </a:t>
            </a:r>
            <a:r>
              <a:rPr lang="en-US" altLang="zh-CN" sz="2000" dirty="0"/>
              <a:t>email-Eu-core </a:t>
            </a:r>
            <a:r>
              <a:rPr lang="zh-CN" altLang="en-US" sz="2000" dirty="0"/>
              <a:t>三个数据集上的实验表明，</a:t>
            </a:r>
            <a:r>
              <a:rPr lang="en-US" altLang="zh-CN" sz="2000" dirty="0"/>
              <a:t>CN</a:t>
            </a:r>
            <a:r>
              <a:rPr lang="zh-CN" altLang="en-US" sz="2000" dirty="0"/>
              <a:t>、</a:t>
            </a:r>
            <a:r>
              <a:rPr lang="en-US" altLang="zh-CN" sz="2000" dirty="0"/>
              <a:t>AA</a:t>
            </a:r>
            <a:r>
              <a:rPr lang="zh-CN" altLang="en-US" sz="2000" dirty="0"/>
              <a:t>、</a:t>
            </a:r>
            <a:r>
              <a:rPr lang="en-US" altLang="zh-CN" sz="2000" dirty="0"/>
              <a:t>RA </a:t>
            </a:r>
            <a:r>
              <a:rPr lang="zh-CN" altLang="en-US" sz="2000" dirty="0"/>
              <a:t>等基于共同邻居的局部结构方法整体表现最稳定。其中 </a:t>
            </a:r>
            <a:r>
              <a:rPr lang="en-US" altLang="zh-CN" sz="2000" dirty="0"/>
              <a:t>RA </a:t>
            </a:r>
            <a:r>
              <a:rPr lang="zh-CN" altLang="en-US" sz="2000" dirty="0"/>
              <a:t>在 </a:t>
            </a:r>
            <a:r>
              <a:rPr lang="en-US" altLang="zh-CN" sz="2000" dirty="0"/>
              <a:t>Facebook </a:t>
            </a:r>
            <a:r>
              <a:rPr lang="zh-CN" altLang="en-US" sz="2000" dirty="0"/>
              <a:t>和 </a:t>
            </a:r>
            <a:r>
              <a:rPr lang="en-US" altLang="zh-CN" sz="2000" dirty="0"/>
              <a:t>email-Eu-core </a:t>
            </a:r>
            <a:r>
              <a:rPr lang="zh-CN" altLang="en-US" sz="2000" dirty="0"/>
              <a:t>上取得最优 </a:t>
            </a:r>
            <a:r>
              <a:rPr lang="en-US" altLang="zh-CN" sz="2000" dirty="0"/>
              <a:t>NDCG@10</a:t>
            </a:r>
            <a:r>
              <a:rPr lang="zh-CN" altLang="en-US" sz="2000" dirty="0"/>
              <a:t>，</a:t>
            </a:r>
            <a:r>
              <a:rPr lang="en-US" altLang="zh-CN" sz="2000" dirty="0"/>
              <a:t>CN </a:t>
            </a:r>
            <a:r>
              <a:rPr lang="zh-CN" altLang="en-US" sz="2000" dirty="0"/>
              <a:t>在 </a:t>
            </a:r>
            <a:r>
              <a:rPr lang="en-US" altLang="zh-CN" sz="2000" dirty="0"/>
              <a:t>ca-</a:t>
            </a:r>
            <a:r>
              <a:rPr lang="en-US" altLang="zh-CN" sz="2000" dirty="0" err="1"/>
              <a:t>GrQc</a:t>
            </a:r>
            <a:r>
              <a:rPr lang="en-US" altLang="zh-CN" sz="2000" dirty="0"/>
              <a:t> </a:t>
            </a:r>
            <a:r>
              <a:rPr lang="zh-CN" altLang="en-US" sz="2000" dirty="0"/>
              <a:t>上取得最优结果。这说明链路预测任务高度依赖三角闭包和局部社团结构。相比之下，矩阵分解、</a:t>
            </a:r>
            <a:r>
              <a:rPr lang="en-US" altLang="zh-CN" sz="2000" dirty="0" err="1"/>
              <a:t>LightGCN</a:t>
            </a:r>
            <a:r>
              <a:rPr lang="zh-CN" altLang="en-US" sz="2000" dirty="0"/>
              <a:t>、</a:t>
            </a:r>
            <a:r>
              <a:rPr lang="en-US" altLang="zh-CN" sz="2000" dirty="0"/>
              <a:t>GCN </a:t>
            </a:r>
            <a:r>
              <a:rPr lang="zh-CN" altLang="en-US" sz="2000" dirty="0"/>
              <a:t>和 </a:t>
            </a:r>
            <a:r>
              <a:rPr lang="en-US" altLang="zh-CN" sz="2000" dirty="0"/>
              <a:t>GAT </a:t>
            </a:r>
            <a:r>
              <a:rPr lang="zh-CN" altLang="en-US" sz="2000" dirty="0"/>
              <a:t>等表示学习方法没有超过传统启发式方法，说明在缺少有效节点特征的静态图链路预测任务中，复杂模型不一定优于简单但结构针对性强的方法。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0971" y="3674352"/>
            <a:ext cx="7046804" cy="139445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87" y="3258745"/>
            <a:ext cx="4347016" cy="22256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1749846" y="2379996"/>
            <a:ext cx="7545968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b="1" dirty="0">
                <a:solidFill>
                  <a:schemeClr val="bg1">
                    <a:lumMod val="95000"/>
                    <a:alpha val="75000"/>
                  </a:schemeClr>
                </a:solidFill>
                <a:latin typeface="+mj-ea"/>
                <a:ea typeface="+mj-ea"/>
              </a:rPr>
              <a:t>BUSSINESS WORK REPORT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>
            <a:fillRect/>
          </a:stretch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731383" y="2562128"/>
            <a:ext cx="35645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感谢聆听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1731382" y="2612879"/>
            <a:ext cx="43646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679867" y="3331569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57" y="2403057"/>
            <a:ext cx="1586785" cy="15790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RlM2M1NGMxNTZlMzBkOThlMmI0NzAxYzE5Y2JmZ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326771653543,&quot;left&quot;:465.3569291338583,&quot;top&quot;:110.25,&quot;width&quot;:295.7859055118109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326771653543,&quot;left&quot;:465.3569291338583,&quot;top&quot;:110.25,&quot;width&quot;:295.7859055118109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2.15,&quot;left&quot;:465.35,&quot;top&quot;:110.25,&quot;width&quot;:295.79283464566925}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1019</Words>
  <Application>Microsoft Office PowerPoint</Application>
  <PresentationFormat>宽屏</PresentationFormat>
  <Paragraphs>120</Paragraphs>
  <Slides>21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Noto Sans CJK SC</vt:lpstr>
      <vt:lpstr>等线</vt:lpstr>
      <vt:lpstr>微软雅黑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简约蓝色商务工作汇报总结通用PPT模板</dc:title>
  <dc:creator>林 雨欣</dc:creator>
  <cp:lastModifiedBy>元博 徐</cp:lastModifiedBy>
  <cp:revision>28</cp:revision>
  <dcterms:created xsi:type="dcterms:W3CDTF">2019-08-14T01:26:00Z</dcterms:created>
  <dcterms:modified xsi:type="dcterms:W3CDTF">2026-06-04T06:24:19Z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C18B7155B6424F1B933168A4230B0501_12</vt:lpwstr>
  </property>
</Properties>
</file>